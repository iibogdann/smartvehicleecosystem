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6" r:id="rId2"/>
    <p:sldId id="257" r:id="rId3"/>
    <p:sldId id="258" r:id="rId4"/>
    <p:sldId id="259" r:id="rId5"/>
    <p:sldId id="273" r:id="rId6"/>
    <p:sldId id="274" r:id="rId7"/>
    <p:sldId id="262" r:id="rId8"/>
    <p:sldId id="263" r:id="rId9"/>
    <p:sldId id="264" r:id="rId10"/>
    <p:sldId id="266" r:id="rId11"/>
    <p:sldId id="268" r:id="rId12"/>
    <p:sldId id="267" r:id="rId13"/>
    <p:sldId id="269" r:id="rId14"/>
    <p:sldId id="270" r:id="rId15"/>
    <p:sldId id="271" r:id="rId16"/>
    <p:sldId id="272" r:id="rId17"/>
    <p:sldId id="275" r:id="rId18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hăilă F.C. Bogdan Iulian" userId="79619277-3afa-4c21-a91f-b1265b4c131b" providerId="ADAL" clId="{8706C223-D57C-449F-B4FE-089D24DCEBF8}"/>
    <pc:docChg chg="modSld">
      <pc:chgData name="Mihăilă F.C. Bogdan Iulian" userId="79619277-3afa-4c21-a91f-b1265b4c131b" providerId="ADAL" clId="{8706C223-D57C-449F-B4FE-089D24DCEBF8}" dt="2025-07-03T19:32:24.562" v="39" actId="20577"/>
      <pc:docMkLst>
        <pc:docMk/>
      </pc:docMkLst>
      <pc:sldChg chg="modSp mod">
        <pc:chgData name="Mihăilă F.C. Bogdan Iulian" userId="79619277-3afa-4c21-a91f-b1265b4c131b" providerId="ADAL" clId="{8706C223-D57C-449F-B4FE-089D24DCEBF8}" dt="2025-07-03T19:32:24.562" v="39" actId="20577"/>
        <pc:sldMkLst>
          <pc:docMk/>
          <pc:sldMk cId="1178745208" sldId="273"/>
        </pc:sldMkLst>
        <pc:graphicFrameChg chg="modGraphic">
          <ac:chgData name="Mihăilă F.C. Bogdan Iulian" userId="79619277-3afa-4c21-a91f-b1265b4c131b" providerId="ADAL" clId="{8706C223-D57C-449F-B4FE-089D24DCEBF8}" dt="2025-07-03T19:32:24.562" v="39" actId="20577"/>
          <ac:graphicFrameMkLst>
            <pc:docMk/>
            <pc:sldMk cId="1178745208" sldId="273"/>
            <ac:graphicFrameMk id="2" creationId="{C2A091B6-EEA5-28B7-494C-52034D5DDB46}"/>
          </ac:graphicFrameMkLst>
        </pc:graphicFrameChg>
      </pc:sldChg>
      <pc:sldChg chg="modSp mod">
        <pc:chgData name="Mihăilă F.C. Bogdan Iulian" userId="79619277-3afa-4c21-a91f-b1265b4c131b" providerId="ADAL" clId="{8706C223-D57C-449F-B4FE-089D24DCEBF8}" dt="2025-07-03T19:31:56.378" v="14" actId="20577"/>
        <pc:sldMkLst>
          <pc:docMk/>
          <pc:sldMk cId="1093205749" sldId="274"/>
        </pc:sldMkLst>
        <pc:graphicFrameChg chg="modGraphic">
          <ac:chgData name="Mihăilă F.C. Bogdan Iulian" userId="79619277-3afa-4c21-a91f-b1265b4c131b" providerId="ADAL" clId="{8706C223-D57C-449F-B4FE-089D24DCEBF8}" dt="2025-07-03T19:31:56.378" v="14" actId="20577"/>
          <ac:graphicFrameMkLst>
            <pc:docMk/>
            <pc:sldMk cId="1093205749" sldId="274"/>
            <ac:graphicFrameMk id="2" creationId="{82E30F36-105F-ACEB-AAC4-DE424B28069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359603-A7D7-4E06-B636-FA0DD9AF0946}" type="datetimeFigureOut">
              <a:rPr lang="ro-RO" smtClean="0"/>
              <a:t>03.07.2025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B8DFD-BDF5-4317-8DA5-2A68147BD49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31946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E6D29-8DA6-EE3A-ECD9-67007D31E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A3FC11-01F6-3CF1-8CA4-C10C5F4B1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FF870-4D22-20B6-38A1-D1D13817D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A584-48C7-4076-B6DF-DB07DE007EA5}" type="datetimeFigureOut">
              <a:rPr lang="ro-RO" smtClean="0"/>
              <a:t>03.07.2025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40EB5-8D3A-C0C5-BE12-9F979BB72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64D59-52FB-32BB-9CA8-A04EF95D6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F39D-879F-4C41-91EB-7EC01E1BF1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5288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2C55B-AD06-203F-4FCA-519815FE1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E0CFD-F46C-A62C-6AE6-E64EE3D6F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EFAC0-71E6-445A-D77F-209EE79C2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A584-48C7-4076-B6DF-DB07DE007EA5}" type="datetimeFigureOut">
              <a:rPr lang="ro-RO" smtClean="0"/>
              <a:t>03.07.2025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49139-E95A-1639-0EE0-3D49CB6BD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A3493-C819-D209-A4E6-AF2DE2F68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F39D-879F-4C41-91EB-7EC01E1BF1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50899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8FC84-CC7E-E4DC-4E40-D4ABDDE63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2692C-FC19-D1A2-AD5D-7918623B6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59C98-1051-E65C-D242-FAA0AA5DF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A584-48C7-4076-B6DF-DB07DE007EA5}" type="datetimeFigureOut">
              <a:rPr lang="ro-RO" smtClean="0"/>
              <a:t>03.07.2025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723EE-CAAD-9281-7924-E1EF2BB58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358EA-CD4E-AA4C-21EE-86A4BFD4C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F39D-879F-4C41-91EB-7EC01E1BF1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6026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AD0E8-9206-BD9B-2378-42432F70C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DC789-7A84-72F1-F88D-AFE61F9AA7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1A84-356B-23AA-3433-29867CD68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B00BE-82A6-0E5C-5ADF-2C1F195C4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A584-48C7-4076-B6DF-DB07DE007EA5}" type="datetimeFigureOut">
              <a:rPr lang="ro-RO" smtClean="0"/>
              <a:t>03.07.2025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5F87F-D5C2-3504-32F6-E23C96041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65573-6C4B-44FB-5887-E5807821C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F39D-879F-4C41-91EB-7EC01E1BF1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45601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8A869-CE4C-72AA-5CD7-04058856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14866-8ADE-D60F-DA45-48E620D58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BED1D-3308-00AE-8CF2-C18C27973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DFAC72-AFE6-DDE3-2F42-07641AC27D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A07A64-3525-1926-18D2-8C01B0B501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1E02B1-0259-B392-373C-AA7B95D8A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A584-48C7-4076-B6DF-DB07DE007EA5}" type="datetimeFigureOut">
              <a:rPr lang="ro-RO" smtClean="0"/>
              <a:t>03.07.2025</a:t>
            </a:fld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D3D7D0-FF9D-6085-EB3F-BEA800D33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C0B7D9-0540-323D-3A94-31E8B851C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F39D-879F-4C41-91EB-7EC01E1BF1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06418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13C02-D317-96B3-3B27-F3D9D7A4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BCEAB6-C7D3-C78C-8301-5D1A6BCC4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A584-48C7-4076-B6DF-DB07DE007EA5}" type="datetimeFigureOut">
              <a:rPr lang="ro-RO" smtClean="0"/>
              <a:t>03.07.2025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AF7B0B-A279-34E3-6060-E7A0EB388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7C636E-3840-BCF7-F9AC-27AFA256B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F39D-879F-4C41-91EB-7EC01E1BF1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11209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D6EFA8-5FD7-6B79-5F15-2A5E61771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A584-48C7-4076-B6DF-DB07DE007EA5}" type="datetimeFigureOut">
              <a:rPr lang="ro-RO" smtClean="0"/>
              <a:t>03.07.2025</a:t>
            </a:fld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26A7F3-B357-C144-DD97-5E72A8E2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6F9B0-5F6A-7621-0752-F199BD0D8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F39D-879F-4C41-91EB-7EC01E1BF1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2185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BF8A5-DBD6-B30D-2C26-3D1C6F3C1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31B57-A718-309E-D806-197FDC6F4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5CB8E-E413-A7A8-2B96-DE5CCBBA3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A7E5E-331C-B8ED-BE71-CFD19FC6F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A584-48C7-4076-B6DF-DB07DE007EA5}" type="datetimeFigureOut">
              <a:rPr lang="ro-RO" smtClean="0"/>
              <a:t>03.07.2025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D7320-EB84-C6D3-0986-48B5F2BE3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D4145-7A65-78D4-4163-3DE76B41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F39D-879F-4C41-91EB-7EC01E1BF1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28045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DE947-D923-991C-3B77-0B1BA0580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01086D-3EE3-14DC-6AF5-A59010EA27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94073-906D-F8C8-A077-6DECECC1E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B4B70-4C78-AD30-B764-A92992DD7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A584-48C7-4076-B6DF-DB07DE007EA5}" type="datetimeFigureOut">
              <a:rPr lang="ro-RO" smtClean="0"/>
              <a:t>03.07.2025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936F6-50BC-A4D1-8E7E-329BCEA8E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BBD61-E654-EC71-AAB2-1B6365F93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F39D-879F-4C41-91EB-7EC01E1BF1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39047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F1F76-09B3-DA63-31DC-613B29DC1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C595D8-4614-EFC8-E054-512176727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4E731-AB67-6892-16A5-43FE73CD1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A584-48C7-4076-B6DF-DB07DE007EA5}" type="datetimeFigureOut">
              <a:rPr lang="ro-RO" smtClean="0"/>
              <a:t>03.07.2025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2D6CF-6B4C-7D4D-A9D7-BFCA1C954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C13B3-755D-CB52-09A1-94F60791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F39D-879F-4C41-91EB-7EC01E1BF1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03287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FF6A20-771C-5EE0-FF4F-6786449819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9D2BE0-C435-6A59-8C07-B95EED2CC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D4B98-936D-BE01-D0E2-EE0688C4A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A584-48C7-4076-B6DF-DB07DE007EA5}" type="datetimeFigureOut">
              <a:rPr lang="ro-RO" smtClean="0"/>
              <a:t>03.07.2025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18EBD-66AD-68AF-BCEF-EC13BC369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86465-C664-C223-7CB8-C706BACE7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F39D-879F-4C41-91EB-7EC01E1BF1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1342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4C6A24-D38D-25F7-0D00-D6D78430A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C64F2-ED67-9861-0729-4A3588C17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BF5B9-A041-52DD-1C4B-BD235C32D7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6A584-48C7-4076-B6DF-DB07DE007EA5}" type="datetimeFigureOut">
              <a:rPr lang="ro-RO" smtClean="0"/>
              <a:t>03.07.2025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1C8E9-2568-6BB4-66B0-5755ADCD33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CE8FF-DBBF-ABDD-F2C4-26D07C5EF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A6F39D-879F-4C41-91EB-7EC01E1BF16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24441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2B1351-F596-583B-ABEA-DD9B146EE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585518B-9C05-10B8-186E-1CD330862BC7}"/>
              </a:ext>
            </a:extLst>
          </p:cNvPr>
          <p:cNvSpPr txBox="1">
            <a:spLocks/>
          </p:cNvSpPr>
          <p:nvPr/>
        </p:nvSpPr>
        <p:spPr>
          <a:xfrm>
            <a:off x="1066800" y="1082009"/>
            <a:ext cx="10058400" cy="35747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3200" b="1" dirty="0"/>
              <a:t>Sistem integrat de comunicație vehicul–infrastructură (V2I). Indicatoare rutiere adaptive cu afișaj de tip E-</a:t>
            </a:r>
            <a:r>
              <a:rPr lang="ro-RO" sz="3200" b="1" dirty="0" err="1"/>
              <a:t>Ink</a:t>
            </a:r>
            <a:r>
              <a:rPr lang="ro-RO" sz="3200" b="1" dirty="0"/>
              <a:t> </a:t>
            </a:r>
            <a:br>
              <a:rPr lang="ro-RO" sz="3200" b="1" dirty="0"/>
            </a:br>
            <a:r>
              <a:rPr lang="ro-RO" sz="3200" b="1" dirty="0" err="1"/>
              <a:t>şi</a:t>
            </a:r>
            <a:r>
              <a:rPr lang="ro-RO" sz="3200" b="1" dirty="0"/>
              <a:t> tehnologie RFID.</a:t>
            </a:r>
            <a:br>
              <a:rPr lang="ro-RO" dirty="0"/>
            </a:br>
            <a:endParaRPr lang="ro-RO" sz="5200" dirty="0">
              <a:solidFill>
                <a:srgbClr val="FFFFFF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CB8A950-6A9B-42F5-6A25-6021D6469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671979"/>
              </p:ext>
            </p:extLst>
          </p:nvPr>
        </p:nvGraphicFramePr>
        <p:xfrm>
          <a:off x="2150324" y="4124120"/>
          <a:ext cx="812800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53256115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43353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Coordonator științific</a:t>
                      </a:r>
                      <a:r>
                        <a:rPr lang="en-US" dirty="0"/>
                        <a:t>,</a:t>
                      </a:r>
                      <a:endParaRPr lang="ro-RO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o-RO" dirty="0"/>
                        <a:t>Student,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061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Ș.l.dr.ing</a:t>
                      </a:r>
                      <a:r>
                        <a:rPr lang="ro-RO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Corneliu BUZDUGA</a:t>
                      </a:r>
                      <a:endParaRPr lang="ro-RO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o-RO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Elena Iuliana BULGARIU</a:t>
                      </a:r>
                      <a:endParaRPr lang="ro-RO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9257086"/>
                  </a:ext>
                </a:extLst>
              </a:tr>
            </a:tbl>
          </a:graphicData>
        </a:graphic>
      </p:graphicFrame>
      <p:sp>
        <p:nvSpPr>
          <p:cNvPr id="10" name="Subtitle 2">
            <a:extLst>
              <a:ext uri="{FF2B5EF4-FFF2-40B4-BE49-F238E27FC236}">
                <a16:creationId xmlns:a16="http://schemas.microsoft.com/office/drawing/2014/main" id="{F5BFBDF6-38C6-4C54-FF8F-A52C19B7F7FA}"/>
              </a:ext>
            </a:extLst>
          </p:cNvPr>
          <p:cNvSpPr txBox="1">
            <a:spLocks/>
          </p:cNvSpPr>
          <p:nvPr/>
        </p:nvSpPr>
        <p:spPr>
          <a:xfrm>
            <a:off x="1185124" y="5831273"/>
            <a:ext cx="10058400" cy="5154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o-RO" dirty="0"/>
              <a:t>Suceava, 2025</a:t>
            </a:r>
          </a:p>
          <a:p>
            <a:endParaRPr lang="ro-RO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153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B407B-280D-74DC-3B84-B8404DD0A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187"/>
            <a:ext cx="10515600" cy="1325563"/>
          </a:xfrm>
        </p:spPr>
        <p:txBody>
          <a:bodyPr/>
          <a:lstStyle/>
          <a:p>
            <a:pPr algn="ctr"/>
            <a:r>
              <a:rPr lang="ro-RO" b="1" dirty="0"/>
              <a:t>Motivația alegerii temei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988D7-5FE6-2C25-AD38-6CC4CC83F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o-RO" dirty="0"/>
              <a:t>Necesitatea modernizării infrastructurii rutiere actuale</a:t>
            </a:r>
            <a:r>
              <a:rPr lang="en-US" dirty="0"/>
              <a:t>;</a:t>
            </a:r>
            <a:endParaRPr lang="ro-RO" dirty="0"/>
          </a:p>
          <a:p>
            <a:pPr algn="just"/>
            <a:endParaRPr lang="ro-RO" dirty="0"/>
          </a:p>
          <a:p>
            <a:pPr algn="just"/>
            <a:r>
              <a:rPr lang="ro-RO" dirty="0"/>
              <a:t>Constrângerile funcționale ale semnalizării rutiere convenționale</a:t>
            </a:r>
            <a:r>
              <a:rPr lang="en-US" dirty="0"/>
              <a:t>;</a:t>
            </a:r>
            <a:endParaRPr lang="ro-RO" dirty="0"/>
          </a:p>
          <a:p>
            <a:pPr algn="just"/>
            <a:endParaRPr lang="ro-RO" dirty="0"/>
          </a:p>
          <a:p>
            <a:pPr algn="just"/>
            <a:r>
              <a:rPr lang="ro-RO" dirty="0"/>
              <a:t>Sporirea siguranței participanților la trafic</a:t>
            </a:r>
            <a:r>
              <a:rPr lang="en-US" dirty="0"/>
              <a:t>;</a:t>
            </a:r>
            <a:endParaRPr lang="ro-RO" dirty="0"/>
          </a:p>
          <a:p>
            <a:endParaRPr lang="ro-RO" dirty="0"/>
          </a:p>
          <a:p>
            <a:r>
              <a:rPr lang="ro-RO" dirty="0"/>
              <a:t> Dezvoltarea unui sistem cu costuri reduse și robust în medii dificile</a:t>
            </a:r>
            <a:r>
              <a:rPr lang="en-US" dirty="0"/>
              <a:t>.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292597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48E61-948B-D7A5-EA7B-89468B9B9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o-RO" b="1" dirty="0"/>
              <a:t>Obiectivele cercetării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E9BDF-8289-D89A-3C93-6A56EB3A9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3068" y="1845081"/>
            <a:ext cx="8198796" cy="435133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o-RO" dirty="0"/>
              <a:t>Realizarea unui sistem de comunicare adaptiv </a:t>
            </a:r>
          </a:p>
          <a:p>
            <a:pPr marL="0" indent="0" algn="just">
              <a:buNone/>
            </a:pPr>
            <a:r>
              <a:rPr lang="ro-RO" dirty="0"/>
              <a:t>   vehicul-infrastructură</a:t>
            </a:r>
            <a:r>
              <a:rPr lang="en-US" dirty="0"/>
              <a:t>;</a:t>
            </a:r>
            <a:r>
              <a:rPr lang="ro-RO" dirty="0"/>
              <a:t> </a:t>
            </a:r>
          </a:p>
          <a:p>
            <a:pPr marL="0" indent="0" algn="just">
              <a:buNone/>
            </a:pPr>
            <a:endParaRPr lang="ro-RO" dirty="0"/>
          </a:p>
          <a:p>
            <a:pPr algn="just"/>
            <a:r>
              <a:rPr lang="ro-RO" dirty="0"/>
              <a:t>Crearea unei sistem integrat, autonom, capabilă să interacționeze cu </a:t>
            </a:r>
            <a:r>
              <a:rPr lang="en-US" dirty="0" err="1"/>
              <a:t>vehiculele</a:t>
            </a:r>
            <a:r>
              <a:rPr lang="en-US" dirty="0"/>
              <a:t> </a:t>
            </a:r>
            <a:r>
              <a:rPr lang="ro-RO" dirty="0"/>
              <a:t>prin</a:t>
            </a:r>
            <a:r>
              <a:rPr lang="en-US" dirty="0"/>
              <a:t> </a:t>
            </a:r>
            <a:r>
              <a:rPr lang="en-US" dirty="0" err="1"/>
              <a:t>transmiterea</a:t>
            </a:r>
            <a:r>
              <a:rPr lang="en-US" dirty="0"/>
              <a:t> </a:t>
            </a:r>
            <a:r>
              <a:rPr lang="ro-RO" dirty="0"/>
              <a:t>și recepționarea diverselor informații</a:t>
            </a:r>
            <a:r>
              <a:rPr lang="en-US" dirty="0"/>
              <a:t>;</a:t>
            </a:r>
            <a:endParaRPr lang="ro-RO" dirty="0"/>
          </a:p>
          <a:p>
            <a:pPr algn="just"/>
            <a:endParaRPr lang="ro-RO" dirty="0"/>
          </a:p>
          <a:p>
            <a:pPr algn="just"/>
            <a:r>
              <a:rPr lang="ro-RO" dirty="0"/>
              <a:t>Implementarea unei soluții sustenabile, </a:t>
            </a:r>
            <a:r>
              <a:rPr lang="ro-RO" dirty="0" err="1"/>
              <a:t>replicabile</a:t>
            </a:r>
            <a:r>
              <a:rPr lang="ro-RO" dirty="0"/>
              <a:t> și eficiente energetic, adaptabilă inclusiv pentru vehicule autonome sau zone izolate</a:t>
            </a:r>
          </a:p>
          <a:p>
            <a:pPr marL="0" indent="0" algn="just">
              <a:buNone/>
            </a:pPr>
            <a:br>
              <a:rPr lang="ro-RO" b="1" dirty="0"/>
            </a:br>
            <a:endParaRPr lang="ro-RO" b="1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055498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13908-2856-8BFB-069C-C811D8FD1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o-RO" b="1" dirty="0"/>
              <a:t>Soluția propusă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67A3A-0A0B-F8E1-CD49-A2BAFF337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4702" y="1825625"/>
            <a:ext cx="7945876" cy="4351338"/>
          </a:xfrm>
        </p:spPr>
        <p:txBody>
          <a:bodyPr/>
          <a:lstStyle/>
          <a:p>
            <a:pPr algn="just"/>
            <a:r>
              <a:rPr lang="ro-RO" dirty="0"/>
              <a:t>Sistem de comunicare vehicul-infrastructură (V2I) cu consum redus de energie</a:t>
            </a:r>
          </a:p>
          <a:p>
            <a:pPr algn="just"/>
            <a:endParaRPr lang="ro-RO" dirty="0"/>
          </a:p>
          <a:p>
            <a:pPr algn="just"/>
            <a:r>
              <a:rPr lang="ro-RO" dirty="0"/>
              <a:t>Indicatoare rutiere adaptive cu afișaj de tip </a:t>
            </a:r>
          </a:p>
          <a:p>
            <a:pPr marL="0" indent="0" algn="just">
              <a:buNone/>
            </a:pPr>
            <a:r>
              <a:rPr lang="ro-RO" dirty="0"/>
              <a:t>   E-</a:t>
            </a:r>
            <a:r>
              <a:rPr lang="ro-RO" dirty="0" err="1"/>
              <a:t>Ink</a:t>
            </a:r>
            <a:r>
              <a:rPr lang="ro-RO" dirty="0"/>
              <a:t> (cerneală electronică) </a:t>
            </a:r>
            <a:r>
              <a:rPr lang="ro-RO" dirty="0" err="1"/>
              <a:t>şi</a:t>
            </a:r>
            <a:r>
              <a:rPr lang="ro-RO" dirty="0"/>
              <a:t> tehnologie RFID (identificarea prin radiofrecvență)</a:t>
            </a:r>
          </a:p>
          <a:p>
            <a:pPr algn="just"/>
            <a:endParaRPr lang="ro-RO" b="1" dirty="0"/>
          </a:p>
          <a:p>
            <a:pPr algn="just"/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810750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A091B6-EEA5-28B7-494C-52034D5DD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12662"/>
              </p:ext>
            </p:extLst>
          </p:nvPr>
        </p:nvGraphicFramePr>
        <p:xfrm>
          <a:off x="643467" y="832963"/>
          <a:ext cx="10905067" cy="5432379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1383251">
                  <a:extLst>
                    <a:ext uri="{9D8B030D-6E8A-4147-A177-3AD203B41FA5}">
                      <a16:colId xmlns:a16="http://schemas.microsoft.com/office/drawing/2014/main" val="657810443"/>
                    </a:ext>
                  </a:extLst>
                </a:gridCol>
                <a:gridCol w="4978098">
                  <a:extLst>
                    <a:ext uri="{9D8B030D-6E8A-4147-A177-3AD203B41FA5}">
                      <a16:colId xmlns:a16="http://schemas.microsoft.com/office/drawing/2014/main" val="3351467504"/>
                    </a:ext>
                  </a:extLst>
                </a:gridCol>
                <a:gridCol w="4543718">
                  <a:extLst>
                    <a:ext uri="{9D8B030D-6E8A-4147-A177-3AD203B41FA5}">
                      <a16:colId xmlns:a16="http://schemas.microsoft.com/office/drawing/2014/main" val="3451700550"/>
                    </a:ext>
                  </a:extLst>
                </a:gridCol>
              </a:tblGrid>
              <a:tr h="42443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b="1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Nr. crt.</a:t>
                      </a:r>
                      <a:endParaRPr lang="ro-RO" sz="1200" b="1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214441" marT="71481" marB="714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Cerințe de sistem</a:t>
                      </a:r>
                      <a:endParaRPr lang="ro-RO" sz="12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53017" marT="71481" marB="714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b="1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Parametru de validare tehnică</a:t>
                      </a:r>
                      <a:endParaRPr lang="ro-RO" sz="1200" b="1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53017" marT="71481" marB="714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431738"/>
                  </a:ext>
                </a:extLst>
              </a:tr>
              <a:tr h="69886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b="1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</a:t>
                      </a:r>
                      <a:endParaRPr lang="ro-RO" sz="1200" b="1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214441" marT="71481" marB="71481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La inițializare, afișajul trebuie să prezinte un ecran-titlu cu numele autorului</a:t>
                      </a:r>
                      <a:endParaRPr lang="ro-RO" sz="12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53017" marT="71481" marB="7148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Textul afișat „Indicator rutier adaptiv – Bulgariu Elena-Iuliana” </a:t>
                      </a:r>
                      <a:endParaRPr lang="ro-RO" sz="12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53017" marT="71481" marB="7148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757611"/>
                  </a:ext>
                </a:extLst>
              </a:tr>
              <a:tr h="42443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b="1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</a:t>
                      </a:r>
                      <a:endParaRPr lang="ro-RO" sz="1200" b="1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214441" marT="71481" marB="71481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Microcontroler-ul trebuie să consume foarte puțin în regim de repaus profund</a:t>
                      </a:r>
                      <a:endParaRPr lang="ro-RO" sz="12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53017" marT="71481" marB="7148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Nodul intră în mod de economisire și menține consumul minim.</a:t>
                      </a:r>
                      <a:endParaRPr lang="ro-RO" sz="12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53017" marT="71481" marB="71481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8661495"/>
                  </a:ext>
                </a:extLst>
              </a:tr>
              <a:tr h="69886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b="1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</a:t>
                      </a:r>
                      <a:endParaRPr lang="ro-RO" sz="1200" b="1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214441" marT="71481" marB="71481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O actualizare a afișajului E-Ink să nu consume excesiv de mult</a:t>
                      </a:r>
                      <a:endParaRPr lang="ro-RO" sz="12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53017" marT="71481" marB="7148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Actualizarea semnului se face rapid, cu consum energetic redus.</a:t>
                      </a:r>
                      <a:endParaRPr lang="ro-RO" sz="12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53017" marT="71481" marB="7148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809781"/>
                  </a:ext>
                </a:extLst>
              </a:tr>
              <a:tr h="42443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b="1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</a:t>
                      </a:r>
                      <a:endParaRPr lang="ro-RO" sz="1200" b="1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214441" marT="71481" marB="71481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Eticheta RFID să poată fi citită de la distanțe apreciabile de vehicul</a:t>
                      </a:r>
                      <a:endParaRPr lang="ro-RO" sz="12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53017" marT="71481" marB="7148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Citire stabilă a semnului de la câțiva metri.</a:t>
                      </a:r>
                      <a:endParaRPr lang="ro-RO" sz="12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53017" marT="71481" marB="71481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445523"/>
                  </a:ext>
                </a:extLst>
              </a:tr>
              <a:tr h="69886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b="1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5</a:t>
                      </a:r>
                      <a:endParaRPr lang="ro-RO" sz="1200" b="1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214441" marT="71481" marB="71481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Rescrierea informațiilor în tag-ul RFID să funcționeze fără contact direct</a:t>
                      </a:r>
                      <a:endParaRPr lang="ro-RO" sz="12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53017" marT="71481" marB="7148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Scriere din mers, la o distanță de câțiva metri.</a:t>
                      </a:r>
                      <a:endParaRPr lang="ro-RO" sz="12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53017" marT="71481" marB="7148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668843"/>
                  </a:ext>
                </a:extLst>
              </a:tr>
              <a:tr h="69886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b="1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6</a:t>
                      </a:r>
                      <a:endParaRPr lang="ro-RO" sz="1200" b="1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214441" marT="71481" marB="71481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Conținutul stocat pe etichetă să includă toate datele necesare vehiculului (ID semn, tip, poziție, orientare)</a:t>
                      </a:r>
                      <a:endParaRPr lang="ro-RO" sz="12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53017" marT="71481" marB="7148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Structură simplă de date</a:t>
                      </a:r>
                      <a:endParaRPr lang="ro-RO" sz="12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53017" marT="71481" marB="71481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082171"/>
                  </a:ext>
                </a:extLst>
              </a:tr>
              <a:tr h="42443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b="1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7</a:t>
                      </a:r>
                      <a:endParaRPr lang="ro-RO" sz="1200" b="1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214441" marT="71481" marB="71481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Interacțiunea prin BLE între aplicație și nod să fie rapidă</a:t>
                      </a:r>
                      <a:endParaRPr lang="ro-RO" sz="12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53017" marT="71481" marB="7148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Întregul proces BLE-actualizare-ecran în sub 2 secunde.</a:t>
                      </a:r>
                      <a:endParaRPr lang="ro-RO" sz="12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53017" marT="71481" marB="7148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235979"/>
                  </a:ext>
                </a:extLst>
              </a:tr>
              <a:tr h="69886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b="1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8</a:t>
                      </a:r>
                      <a:endParaRPr lang="ro-RO" sz="1200" b="1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214441" marT="71481" marB="71481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Nodurile trebuie să rămână funcționale după expunere la apă și zăpadă</a:t>
                      </a:r>
                      <a:endParaRPr lang="ro-RO" sz="12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53017" marT="71481" marB="71481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2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Citire și afișare fără erori în aceste condiții de mediu.</a:t>
                      </a:r>
                      <a:endParaRPr lang="ro-RO" sz="12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60" marR="53017" marT="71481" marB="71481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992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745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E30F36-105F-ACEB-AAC4-DE424B280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825926"/>
              </p:ext>
            </p:extLst>
          </p:nvPr>
        </p:nvGraphicFramePr>
        <p:xfrm>
          <a:off x="1054030" y="643466"/>
          <a:ext cx="10083941" cy="5156098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610868">
                  <a:extLst>
                    <a:ext uri="{9D8B030D-6E8A-4147-A177-3AD203B41FA5}">
                      <a16:colId xmlns:a16="http://schemas.microsoft.com/office/drawing/2014/main" val="3850237785"/>
                    </a:ext>
                  </a:extLst>
                </a:gridCol>
                <a:gridCol w="3295882">
                  <a:extLst>
                    <a:ext uri="{9D8B030D-6E8A-4147-A177-3AD203B41FA5}">
                      <a16:colId xmlns:a16="http://schemas.microsoft.com/office/drawing/2014/main" val="1308842797"/>
                    </a:ext>
                  </a:extLst>
                </a:gridCol>
                <a:gridCol w="3146236">
                  <a:extLst>
                    <a:ext uri="{9D8B030D-6E8A-4147-A177-3AD203B41FA5}">
                      <a16:colId xmlns:a16="http://schemas.microsoft.com/office/drawing/2014/main" val="2111025035"/>
                    </a:ext>
                  </a:extLst>
                </a:gridCol>
                <a:gridCol w="3030955">
                  <a:extLst>
                    <a:ext uri="{9D8B030D-6E8A-4147-A177-3AD203B41FA5}">
                      <a16:colId xmlns:a16="http://schemas.microsoft.com/office/drawing/2014/main" val="1191477072"/>
                    </a:ext>
                  </a:extLst>
                </a:gridCol>
              </a:tblGrid>
              <a:tr h="40709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Nr.</a:t>
                      </a:r>
                      <a:endParaRPr lang="ro-RO" sz="1400" b="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15752" marB="78761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Ce testăm</a:t>
                      </a:r>
                      <a:endParaRPr lang="ro-RO" sz="1400" b="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15752" marB="78761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Cum măsurăm</a:t>
                      </a:r>
                      <a:endParaRPr lang="ro-RO" sz="1400" b="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15752" marB="78761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Așteptări</a:t>
                      </a:r>
                      <a:endParaRPr lang="ro-RO" sz="1400" b="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15752" marB="78761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68972"/>
                  </a:ext>
                </a:extLst>
              </a:tr>
              <a:tr h="41497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o-RO" sz="1400" b="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Conectare BLE</a:t>
                      </a:r>
                      <a:endParaRPr lang="ro-RO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Cronometrare realizare conexiune</a:t>
                      </a:r>
                      <a:endParaRPr lang="ro-RO" sz="100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&lt; 2 s la 1–5 m</a:t>
                      </a:r>
                      <a:endParaRPr lang="ro-RO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470271"/>
                  </a:ext>
                </a:extLst>
              </a:tr>
              <a:tr h="66853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ro-RO" sz="1400" b="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Stabilitate BLE</a:t>
                      </a:r>
                      <a:endParaRPr lang="ro-RO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Monitorizare conexiune</a:t>
                      </a:r>
                    </a:p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 BLE în aplicație</a:t>
                      </a:r>
                      <a:endParaRPr lang="ro-RO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&gt; 95 % conexiuni reușite sub 7 m</a:t>
                      </a:r>
                      <a:endParaRPr lang="ro-RO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409402"/>
                  </a:ext>
                </a:extLst>
              </a:tr>
              <a:tr h="41497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ro-RO" sz="1400" b="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Citirea  RFID în mers</a:t>
                      </a:r>
                      <a:endParaRPr lang="ro-RO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Vizualizare semn  </a:t>
                      </a:r>
                      <a:endParaRPr lang="ro-RO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≥ 90 % reușite la &lt; 3 m/s</a:t>
                      </a:r>
                      <a:endParaRPr lang="ro-RO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283520"/>
                  </a:ext>
                </a:extLst>
              </a:tr>
              <a:tr h="41497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ro-RO" sz="1400" b="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Unghi citire RFID</a:t>
                      </a:r>
                      <a:endParaRPr lang="ro-RO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Apreciere unghi 0°–90°</a:t>
                      </a:r>
                      <a:endParaRPr lang="ro-RO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Fiabil până la 45°</a:t>
                      </a:r>
                      <a:endParaRPr lang="ro-RO" sz="100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180413"/>
                  </a:ext>
                </a:extLst>
              </a:tr>
              <a:tr h="66853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400" b="0" kern="100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ro-RO" sz="1400" b="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Distanță </a:t>
                      </a:r>
                    </a:p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citire RFID</a:t>
                      </a:r>
                      <a:endParaRPr lang="ro-RO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Citire statică/dinamică a </a:t>
                      </a:r>
                      <a:r>
                        <a:rPr lang="ro-RO" sz="1000" kern="100" cap="none" spc="0" dirty="0" err="1">
                          <a:solidFill>
                            <a:schemeClr val="tx1"/>
                          </a:solidFill>
                          <a:effectLst/>
                        </a:rPr>
                        <a:t>tag</a:t>
                      </a:r>
                      <a:r>
                        <a:rPr lang="ro-RO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-ului</a:t>
                      </a:r>
                      <a:endParaRPr lang="ro-RO" sz="100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≥ 3 m</a:t>
                      </a:r>
                      <a:endParaRPr lang="ro-RO" sz="100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404866"/>
                  </a:ext>
                </a:extLst>
              </a:tr>
              <a:tr h="66853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400" b="0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RFID </a:t>
                      </a:r>
                    </a:p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în ploaie/zăpadă</a:t>
                      </a:r>
                      <a:endParaRPr lang="ro-RO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Pulverizare cu apa și așezare zăpadă pe tag</a:t>
                      </a:r>
                      <a:endParaRPr lang="ro-RO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&lt; 20 % scădere performanță</a:t>
                      </a:r>
                      <a:endParaRPr lang="ro-RO" sz="100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24919"/>
                  </a:ext>
                </a:extLst>
              </a:tr>
              <a:tr h="66853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400" b="0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Timp scriere semn nou</a:t>
                      </a:r>
                      <a:endParaRPr lang="ro-RO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Cronometre </a:t>
                      </a:r>
                    </a:p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BLE→ESP→e-Paper→RFID</a:t>
                      </a:r>
                      <a:endParaRPr lang="ro-RO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≈ 3 s</a:t>
                      </a:r>
                      <a:endParaRPr lang="ro-RO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2574"/>
                  </a:ext>
                </a:extLst>
              </a:tr>
              <a:tr h="41497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400" b="0" kern="100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Notificare eveniment</a:t>
                      </a:r>
                      <a:endParaRPr lang="ro-RO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Simulare accident + notificare primită pe telefon</a:t>
                      </a:r>
                      <a:endParaRPr lang="ro-RO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&lt; 1.5 s</a:t>
                      </a:r>
                      <a:endParaRPr lang="ro-RO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409296"/>
                  </a:ext>
                </a:extLst>
              </a:tr>
              <a:tr h="41497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4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ro-RO" sz="1400" b="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Funcționare generală</a:t>
                      </a:r>
                      <a:endParaRPr lang="ro-RO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>
                          <a:solidFill>
                            <a:schemeClr val="tx1"/>
                          </a:solidFill>
                          <a:effectLst/>
                        </a:rPr>
                        <a:t>30 cicluri complete V2I</a:t>
                      </a:r>
                      <a:endParaRPr lang="ro-RO" sz="10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o-RO" sz="10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&gt; 95 % reușită</a:t>
                      </a:r>
                      <a:endParaRPr lang="ro-RO" sz="100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7457" marT="23628" marB="787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77039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51A4D7E-BD71-C61C-8D89-1AD9BB815F44}"/>
              </a:ext>
            </a:extLst>
          </p:cNvPr>
          <p:cNvSpPr txBox="1"/>
          <p:nvPr/>
        </p:nvSpPr>
        <p:spPr>
          <a:xfrm>
            <a:off x="1695180" y="274133"/>
            <a:ext cx="880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Metodele, </a:t>
            </a:r>
            <a:r>
              <a:rPr lang="ro-RO" b="1" dirty="0" err="1"/>
              <a:t>condiţiile</a:t>
            </a:r>
            <a:r>
              <a:rPr lang="ro-RO" b="1" dirty="0"/>
              <a:t> </a:t>
            </a:r>
            <a:r>
              <a:rPr lang="ro-RO" b="1" dirty="0" err="1"/>
              <a:t>şi</a:t>
            </a:r>
            <a:r>
              <a:rPr lang="ro-RO" b="1" dirty="0"/>
              <a:t> rezultatele </a:t>
            </a:r>
            <a:r>
              <a:rPr lang="ro-RO" b="1" dirty="0" err="1"/>
              <a:t>aşteptate</a:t>
            </a:r>
            <a:r>
              <a:rPr lang="ro-RO" b="1" dirty="0"/>
              <a:t> pentru evaluarea </a:t>
            </a:r>
            <a:r>
              <a:rPr lang="ro-RO" b="1" dirty="0" err="1"/>
              <a:t>funcţionalităților</a:t>
            </a:r>
            <a:endParaRPr lang="ro-RO" b="1" dirty="0"/>
          </a:p>
        </p:txBody>
      </p:sp>
    </p:spTree>
    <p:extLst>
      <p:ext uri="{BB962C8B-B14F-4D97-AF65-F5344CB8AC3E}">
        <p14:creationId xmlns:p14="http://schemas.microsoft.com/office/powerpoint/2010/main" val="1093205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6149CE-EF40-ACEA-3833-964F4E0F0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9477870-C64A-4E35-8F2F-05B7114F3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6E4249-BCC2-1C0B-FC82-C6EC04210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081" y="722693"/>
            <a:ext cx="6268770" cy="1536192"/>
          </a:xfrm>
        </p:spPr>
        <p:txBody>
          <a:bodyPr anchor="b">
            <a:normAutofit/>
          </a:bodyPr>
          <a:lstStyle/>
          <a:p>
            <a:pPr algn="ctr"/>
            <a:r>
              <a:rPr lang="ro-RO" sz="3600" b="1" dirty="0"/>
              <a:t>Arhitectura generală a sistemului propus</a:t>
            </a:r>
            <a:endParaRPr lang="ro-RO" b="1" dirty="0"/>
          </a:p>
        </p:txBody>
      </p:sp>
      <p:sp>
        <p:nvSpPr>
          <p:cNvPr id="13" name="!!accent">
            <a:extLst>
              <a:ext uri="{FF2B5EF4-FFF2-40B4-BE49-F238E27FC236}">
                <a16:creationId xmlns:a16="http://schemas.microsoft.com/office/drawing/2014/main" id="{8AEA628B-C8FF-4D0B-B111-F101F580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663BD0-064C-40FC-A331-F49FCA953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95938A7-57A9-C328-A9CF-D42D0787A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458" y="3355848"/>
            <a:ext cx="6268770" cy="2825496"/>
          </a:xfrm>
        </p:spPr>
        <p:txBody>
          <a:bodyPr>
            <a:normAutofit/>
          </a:bodyPr>
          <a:lstStyle/>
          <a:p>
            <a:r>
              <a:rPr lang="ro-RO" sz="2400" dirty="0"/>
              <a:t>Două indicatoare rutiere</a:t>
            </a:r>
            <a:r>
              <a:rPr lang="en-US" sz="2400" dirty="0"/>
              <a:t>: </a:t>
            </a:r>
            <a:r>
              <a:rPr lang="it-IT" sz="2400" dirty="0"/>
              <a:t>fiecare include un ESP32-C3, un afișaj E-Ink și un tag RFID pasiv</a:t>
            </a:r>
            <a:endParaRPr lang="ro-RO" sz="2400" dirty="0"/>
          </a:p>
          <a:p>
            <a:r>
              <a:rPr lang="ro-RO" sz="2400" dirty="0"/>
              <a:t>Modul de scriere/citire RFID- YRM1003 ce comunică bidirecțional cu ESP32 WROOM</a:t>
            </a:r>
          </a:p>
          <a:p>
            <a:r>
              <a:rPr lang="ro-RO" sz="2400" dirty="0"/>
              <a:t>Aplicație Android: permite configurarea și actualizarea indicatoarelor</a:t>
            </a:r>
            <a:endParaRPr lang="en-US" sz="2200" dirty="0"/>
          </a:p>
        </p:txBody>
      </p:sp>
      <p:pic>
        <p:nvPicPr>
          <p:cNvPr id="4" name="Content Placeholder 3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D46C4F28-0E73-FDC6-9DD7-25FD8183FA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5"/>
          <a:stretch>
            <a:fillRect/>
          </a:stretch>
        </p:blipFill>
        <p:spPr bwMode="auto">
          <a:xfrm>
            <a:off x="7684006" y="10"/>
            <a:ext cx="4507993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92959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AE2E59-A7C3-5C03-129D-921D2B218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63A68E-3EC1-78ED-4970-5C4D451D5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8961" y="5746960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ro-RO" sz="2000" b="1" dirty="0"/>
              <a:t>Dezvoltarea semnelor de circulație-stânga</a:t>
            </a:r>
            <a:br>
              <a:rPr lang="ro-RO" sz="2000" b="1" dirty="0"/>
            </a:br>
            <a:r>
              <a:rPr lang="ro-RO" sz="2000" b="1" dirty="0"/>
              <a:t>Modulului RFID UHF- dreapta</a:t>
            </a:r>
            <a:br>
              <a:rPr lang="ro-RO" sz="2000" dirty="0"/>
            </a:br>
            <a:r>
              <a:rPr lang="ro-RO" sz="2000" dirty="0"/>
              <a:t> </a:t>
            </a:r>
            <a:endParaRPr lang="en-US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FF76FF-42FE-5561-242E-5CE5AC3EA9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679" y="207010"/>
            <a:ext cx="3949542" cy="6637888"/>
          </a:xfrm>
          <a:prstGeom prst="rect">
            <a:avLst/>
          </a:prstGeom>
        </p:spPr>
      </p:pic>
      <p:pic>
        <p:nvPicPr>
          <p:cNvPr id="6" name="Picture 5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10E707CA-5C2A-3AF0-B1B0-A0DEFF6E337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5" t="15976" r="32812"/>
          <a:stretch>
            <a:fillRect/>
          </a:stretch>
        </p:blipFill>
        <p:spPr bwMode="auto">
          <a:xfrm>
            <a:off x="5828185" y="320040"/>
            <a:ext cx="5717365" cy="4483188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218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D33546-1F4E-F936-210A-E34BFB31C1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9" r="-1" b="-1"/>
          <a:stretch>
            <a:fillRect/>
          </a:stretch>
        </p:blipFill>
        <p:spPr>
          <a:xfrm>
            <a:off x="-82817" y="197907"/>
            <a:ext cx="6953214" cy="339068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C8029E-E679-5CC4-DE1F-B1AA37452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5966048"/>
            <a:ext cx="104775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78A8997-D529-2072-A151-AF7A523475F2}"/>
              </a:ext>
            </a:extLst>
          </p:cNvPr>
          <p:cNvSpPr txBox="1"/>
          <p:nvPr/>
        </p:nvSpPr>
        <p:spPr>
          <a:xfrm>
            <a:off x="369345" y="3759824"/>
            <a:ext cx="6501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/>
              <a:t>Implementarea unui semn de circulație</a:t>
            </a:r>
            <a:r>
              <a:rPr lang="ro-RO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549DEA-8E3A-4311-94F3-10E44E42C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070" y="2345984"/>
            <a:ext cx="4904866" cy="32507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7078FB-C9F8-40F3-317C-B13937A31AD7}"/>
              </a:ext>
            </a:extLst>
          </p:cNvPr>
          <p:cNvSpPr txBox="1"/>
          <p:nvPr/>
        </p:nvSpPr>
        <p:spPr>
          <a:xfrm>
            <a:off x="3841430" y="5425480"/>
            <a:ext cx="4509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/>
              <a:t>Implementarea hardware 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2705617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6D183-A166-0059-525B-59E864509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AEEF2-6FEC-8CBD-4382-5106C7A81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9065E8-BEAE-0847-A9B3-25A65DC89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061" y="656705"/>
            <a:ext cx="8645929" cy="62012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27D695-A1D0-FC79-44F8-74675B5EF522}"/>
              </a:ext>
            </a:extLst>
          </p:cNvPr>
          <p:cNvSpPr txBox="1"/>
          <p:nvPr/>
        </p:nvSpPr>
        <p:spPr>
          <a:xfrm>
            <a:off x="2924348" y="368240"/>
            <a:ext cx="6486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 dirty="0"/>
              <a:t>Interfața aplicației mobile-conectarea cu </a:t>
            </a:r>
            <a:r>
              <a:rPr lang="ro-RO" sz="2000" b="1" dirty="0" err="1"/>
              <a:t>Elysium</a:t>
            </a:r>
            <a:r>
              <a:rPr lang="ro-RO" sz="2000" b="1" dirty="0"/>
              <a:t> RC</a:t>
            </a:r>
          </a:p>
        </p:txBody>
      </p:sp>
    </p:spTree>
    <p:extLst>
      <p:ext uri="{BB962C8B-B14F-4D97-AF65-F5344CB8AC3E}">
        <p14:creationId xmlns:p14="http://schemas.microsoft.com/office/powerpoint/2010/main" val="1936493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9A77AA-EBD7-E7D6-5A67-D1B99B73F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1555993"/>
            <a:ext cx="5294716" cy="3746011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751FB3A-0956-0344-8112-2F612ABB4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817" y="1383047"/>
            <a:ext cx="5294715" cy="40919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EB36E9-D0EB-201B-62A3-B405AD212EE1}"/>
              </a:ext>
            </a:extLst>
          </p:cNvPr>
          <p:cNvSpPr txBox="1"/>
          <p:nvPr/>
        </p:nvSpPr>
        <p:spPr>
          <a:xfrm>
            <a:off x="2654135" y="5791302"/>
            <a:ext cx="7199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/>
              <a:t>Fluxul de inițializare și afișare a mesajului rutier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17049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20EEC43-AF4A-4C63-74BC-CF27080EE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70444"/>
            <a:ext cx="7675047" cy="46875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8ED710-FBAF-7E62-416A-E156D382C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4320" y="-54043"/>
            <a:ext cx="6728577" cy="43808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7F03C07-E89E-949F-927B-5A0089AFEB88}"/>
              </a:ext>
            </a:extLst>
          </p:cNvPr>
          <p:cNvSpPr txBox="1"/>
          <p:nvPr/>
        </p:nvSpPr>
        <p:spPr>
          <a:xfrm>
            <a:off x="2855421" y="6286649"/>
            <a:ext cx="8498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/>
              <a:t>Fluxul de inițializare mod personalizat și afișare a mesajului</a:t>
            </a:r>
          </a:p>
        </p:txBody>
      </p:sp>
    </p:spTree>
    <p:extLst>
      <p:ext uri="{BB962C8B-B14F-4D97-AF65-F5344CB8AC3E}">
        <p14:creationId xmlns:p14="http://schemas.microsoft.com/office/powerpoint/2010/main" val="1694827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539EC9-5134-7831-620B-C8A213C76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6145"/>
            <a:ext cx="7382905" cy="54395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0148EF-4216-FE82-AB37-2099E70826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1"/>
          <a:stretch>
            <a:fillRect/>
          </a:stretch>
        </p:blipFill>
        <p:spPr>
          <a:xfrm>
            <a:off x="7523017" y="956201"/>
            <a:ext cx="3812735" cy="54681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D5F7F5-538E-71ED-4912-A94467BA1483}"/>
              </a:ext>
            </a:extLst>
          </p:cNvPr>
          <p:cNvSpPr txBox="1"/>
          <p:nvPr/>
        </p:nvSpPr>
        <p:spPr>
          <a:xfrm>
            <a:off x="1952625" y="6008815"/>
            <a:ext cx="6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Răspuns automat al sistemului V2I la un eveniment rutier critic</a:t>
            </a:r>
          </a:p>
        </p:txBody>
      </p:sp>
    </p:spTree>
    <p:extLst>
      <p:ext uri="{BB962C8B-B14F-4D97-AF65-F5344CB8AC3E}">
        <p14:creationId xmlns:p14="http://schemas.microsoft.com/office/powerpoint/2010/main" val="178318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9892AF-16AF-F1C6-6214-FD9766FF9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973" y="0"/>
            <a:ext cx="6287377" cy="59539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CDBDC1-5736-BD22-03A2-D2F088CA0BB7}"/>
              </a:ext>
            </a:extLst>
          </p:cNvPr>
          <p:cNvSpPr txBox="1"/>
          <p:nvPr/>
        </p:nvSpPr>
        <p:spPr>
          <a:xfrm>
            <a:off x="2952311" y="5953956"/>
            <a:ext cx="62873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b="1" dirty="0"/>
              <a:t>Meniul de scriere RFID din aplicația Android: alegerea semnului rutier (stânga) și trimiterea comenzii către </a:t>
            </a:r>
            <a:r>
              <a:rPr lang="ro-RO" b="1" dirty="0" err="1"/>
              <a:t>tag</a:t>
            </a:r>
            <a:r>
              <a:rPr lang="ro-RO" b="1" dirty="0"/>
              <a:t> (dreapta)</a:t>
            </a:r>
          </a:p>
        </p:txBody>
      </p:sp>
    </p:spTree>
    <p:extLst>
      <p:ext uri="{BB962C8B-B14F-4D97-AF65-F5344CB8AC3E}">
        <p14:creationId xmlns:p14="http://schemas.microsoft.com/office/powerpoint/2010/main" val="1323196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4781D0C-7429-44BC-9E3C-D31B59D41B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13420" y="3148217"/>
            <a:ext cx="1562318" cy="1800476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D84BC0-FAA8-BB42-77A6-3550AC7CD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45" y="1690688"/>
            <a:ext cx="5087060" cy="32580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958569-A369-4030-BCB0-3D38324D324E}"/>
              </a:ext>
            </a:extLst>
          </p:cNvPr>
          <p:cNvSpPr txBox="1"/>
          <p:nvPr/>
        </p:nvSpPr>
        <p:spPr>
          <a:xfrm>
            <a:off x="1456668" y="5422681"/>
            <a:ext cx="27747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/>
              <a:t>Secvență de inițializare și afișare a comenzii personalizate pe semnul rutier adaptiv.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909349-6718-6205-A367-D5233F68E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367" y="309370"/>
            <a:ext cx="1800476" cy="27626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83606D-98A4-FBA1-72C1-A5A7E5F58D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9998" y="169877"/>
            <a:ext cx="1086002" cy="18290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AF7297-55B5-C63D-744F-A292C7920E84}"/>
              </a:ext>
            </a:extLst>
          </p:cNvPr>
          <p:cNvSpPr txBox="1"/>
          <p:nvPr/>
        </p:nvSpPr>
        <p:spPr>
          <a:xfrm>
            <a:off x="5124449" y="3127761"/>
            <a:ext cx="27747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/>
              <a:t>Avertizare „ATENȚIE,  ACCIDENT!” (sus stânga) și semnul „STOP(dreapta jos).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EDAA7B-2D3D-C9CE-62CA-2FA712EA7A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8163" y="3072006"/>
            <a:ext cx="1562318" cy="186639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0BC6A47-0ADC-363D-C4D9-7132171A5DDA}"/>
              </a:ext>
            </a:extLst>
          </p:cNvPr>
          <p:cNvSpPr txBox="1"/>
          <p:nvPr/>
        </p:nvSpPr>
        <p:spPr>
          <a:xfrm>
            <a:off x="8191500" y="5195600"/>
            <a:ext cx="316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/>
              <a:t>Afișarea simultană a semnelor „Cedează trecerea” și „Limită 50 km/h” pe dispozitive distincte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D353AE-37D7-EC2E-67E7-465AF8A86416}"/>
              </a:ext>
            </a:extLst>
          </p:cNvPr>
          <p:cNvSpPr txBox="1"/>
          <p:nvPr/>
        </p:nvSpPr>
        <p:spPr>
          <a:xfrm>
            <a:off x="190145" y="234990"/>
            <a:ext cx="4189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 err="1"/>
              <a:t>Tetarea</a:t>
            </a:r>
            <a:r>
              <a:rPr lang="ro-RO" sz="2400" b="1" dirty="0"/>
              <a:t> funcționalității sistemului</a:t>
            </a:r>
          </a:p>
        </p:txBody>
      </p:sp>
    </p:spTree>
    <p:extLst>
      <p:ext uri="{BB962C8B-B14F-4D97-AF65-F5344CB8AC3E}">
        <p14:creationId xmlns:p14="http://schemas.microsoft.com/office/powerpoint/2010/main" val="465791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DA9942F-A18C-9E9D-BF08-9291C54E1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D760C-8577-1FDA-00B4-5EA199943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09" y="353681"/>
            <a:ext cx="6572382" cy="9743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400" b="1"/>
              <a:t>Rezultatele testelor experimentale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7F1B0594-EB05-6E7D-C35D-FE601CD787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5747903"/>
              </p:ext>
            </p:extLst>
          </p:nvPr>
        </p:nvGraphicFramePr>
        <p:xfrm>
          <a:off x="1638300" y="1590676"/>
          <a:ext cx="9058275" cy="477202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397090">
                  <a:extLst>
                    <a:ext uri="{9D8B030D-6E8A-4147-A177-3AD203B41FA5}">
                      <a16:colId xmlns:a16="http://schemas.microsoft.com/office/drawing/2014/main" val="2801826483"/>
                    </a:ext>
                  </a:extLst>
                </a:gridCol>
                <a:gridCol w="2914628">
                  <a:extLst>
                    <a:ext uri="{9D8B030D-6E8A-4147-A177-3AD203B41FA5}">
                      <a16:colId xmlns:a16="http://schemas.microsoft.com/office/drawing/2014/main" val="3546042875"/>
                    </a:ext>
                  </a:extLst>
                </a:gridCol>
                <a:gridCol w="3746557">
                  <a:extLst>
                    <a:ext uri="{9D8B030D-6E8A-4147-A177-3AD203B41FA5}">
                      <a16:colId xmlns:a16="http://schemas.microsoft.com/office/drawing/2014/main" val="3389437970"/>
                    </a:ext>
                  </a:extLst>
                </a:gridCol>
              </a:tblGrid>
              <a:tr h="510008"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4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Criteriu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4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Rezultat obținut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4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Observații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39149"/>
                  </a:ext>
                </a:extLst>
              </a:tr>
              <a:tr h="431301"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Timp conectare BLE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&lt; 0.5 secunde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Sub pragul de 2 sec.; conexiune rapidă și stabilă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67811"/>
                  </a:ext>
                </a:extLst>
              </a:tr>
              <a:tr h="431301"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Stabilitate BLE (până la 7 m)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&gt; 95% succes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Potrivit sistemului implementat</a:t>
                      </a:r>
                      <a:endParaRPr lang="it-IT" sz="14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423732"/>
                  </a:ext>
                </a:extLst>
              </a:tr>
              <a:tr h="431301"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Rată scriere RFID din mers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70–80%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Necesită optimizări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028524"/>
                  </a:ext>
                </a:extLst>
              </a:tr>
              <a:tr h="431301"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Unghi citire RFID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360°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Peste așteptările inițiale (45°)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62955"/>
                  </a:ext>
                </a:extLst>
              </a:tr>
              <a:tr h="431301"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Distanță citire RFID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2 metri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t-IT" sz="14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Sub specificațiile (</a:t>
                      </a:r>
                      <a:r>
                        <a:rPr lang="ro-RO" sz="14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3 </a:t>
                      </a:r>
                      <a:r>
                        <a:rPr lang="it-IT" sz="14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m); limitare notabilă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300711"/>
                  </a:ext>
                </a:extLst>
              </a:tr>
              <a:tr h="431301"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Consum real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~200 </a:t>
                      </a:r>
                      <a:r>
                        <a:rPr lang="ro-RO" sz="1400" b="0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mAh</a:t>
                      </a:r>
                      <a:r>
                        <a:rPr lang="ro-RO" sz="14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/zi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Necesită îmbunătățiri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746348"/>
                  </a:ext>
                </a:extLst>
              </a:tr>
              <a:tr h="811605"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Condiții meteo (apă/zăpadă)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Funcționează, cu ușoare instabilități </a:t>
                      </a:r>
                      <a:r>
                        <a:rPr lang="ro-RO" sz="1400" b="0" dirty="0"/>
                        <a:t>~1 m </a:t>
                      </a:r>
                      <a:r>
                        <a:rPr lang="ro-RO" sz="1400" dirty="0"/>
                        <a:t>în condiții de iarnă (zăpadă)</a:t>
                      </a:r>
                      <a:br>
                        <a:rPr lang="ro-RO" sz="1400" dirty="0"/>
                      </a:br>
                      <a:endParaRPr lang="ro-RO" sz="14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Scade distanța de citire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6190"/>
                  </a:ext>
                </a:extLst>
              </a:tr>
              <a:tr h="431301"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Timp scriere nou semn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≈ 2 secunde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Performanță acceptabilă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858049"/>
                  </a:ext>
                </a:extLst>
              </a:tr>
              <a:tr h="431301"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Timp notificare + afișare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≈ 2 secunde (1.5 sec. E-Ink)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o-RO" sz="14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Considerat eficient</a:t>
                      </a:r>
                    </a:p>
                  </a:txBody>
                  <a:tcPr marL="138685" marR="104014" marT="69343" marB="693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712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891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929AF-F0AB-6C50-16D0-F357B8B963B0}"/>
              </a:ext>
            </a:extLst>
          </p:cNvPr>
          <p:cNvSpPr>
            <a:spLocks noGrp="1"/>
          </p:cNvSpPr>
          <p:nvPr>
            <p:ph type="title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ro-RO" b="1" dirty="0"/>
              <a:t>Concluzii, contribuții și direcții viitoare de cercetare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F6A0-401D-53FB-145B-8FBAF7C5E43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3969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Testele au confirmat fiabilitatea conexiunilor și a componentelor hardwar</a:t>
            </a:r>
            <a:r>
              <a:rPr lang="ro-RO" dirty="0"/>
              <a:t>e</a:t>
            </a:r>
          </a:p>
          <a:p>
            <a:r>
              <a:rPr lang="ro-RO" dirty="0"/>
              <a:t>Sistemul poate funcționa autonom energetic și este potrivit pentru zone izolate sau aplicabil în orașe moderne</a:t>
            </a:r>
          </a:p>
          <a:p>
            <a:r>
              <a:rPr lang="ro-RO" dirty="0"/>
              <a:t>Optimizare a sistemului propus prin integrarea unor surse regenerabile precum panouri solare </a:t>
            </a:r>
          </a:p>
          <a:p>
            <a:r>
              <a:rPr lang="ro-RO" dirty="0"/>
              <a:t>O provocare viitoare este evaluarea interoperabilității cu rețele V2X  pentru o integrare completă într-un ecosistem al unui oraș </a:t>
            </a:r>
            <a:r>
              <a:rPr lang="ro-RO" dirty="0" err="1"/>
              <a:t>smart</a:t>
            </a:r>
            <a:r>
              <a:rPr lang="ro-R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4068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872</Words>
  <Application>Microsoft Office PowerPoint</Application>
  <PresentationFormat>Widescreen</PresentationFormat>
  <Paragraphs>151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Aptos Narrow</vt:lpstr>
      <vt:lpstr>Arial</vt:lpstr>
      <vt:lpstr>Calibri</vt:lpstr>
      <vt:lpstr>Office Theme</vt:lpstr>
      <vt:lpstr>PowerPoint Presentation</vt:lpstr>
      <vt:lpstr>Motivația alegerii temei</vt:lpstr>
      <vt:lpstr>Obiectivele cercetării</vt:lpstr>
      <vt:lpstr>Soluția propusă</vt:lpstr>
      <vt:lpstr>PowerPoint Presentation</vt:lpstr>
      <vt:lpstr>PowerPoint Presentation</vt:lpstr>
      <vt:lpstr>Arhitectura generală a sistemului propus</vt:lpstr>
      <vt:lpstr>Dezvoltarea semnelor de circulație-stânga Modulului RFID UHF- dreapta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Rezultatele testelor experimentale</vt:lpstr>
      <vt:lpstr>Concluzii, contribuții și direcții viitoare de cercetare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Bulgariu I. Elena Iuliana</dc:creator>
  <cp:lastModifiedBy>Mihăilă F.C. Bogdan Iulian</cp:lastModifiedBy>
  <cp:revision>12</cp:revision>
  <dcterms:created xsi:type="dcterms:W3CDTF">2025-07-03T15:53:25Z</dcterms:created>
  <dcterms:modified xsi:type="dcterms:W3CDTF">2025-07-03T19:32:33Z</dcterms:modified>
</cp:coreProperties>
</file>